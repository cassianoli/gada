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Lst>
  <p:sldSz cy="10058400" cx="7772400"/>
  <p:notesSz cx="6858000" cy="9144000"/>
  <p:embeddedFontLst>
    <p:embeddedFont>
      <p:font typeface="Roboto"/>
      <p:regular r:id="rId7"/>
      <p:bold r:id="rId8"/>
      <p:italic r:id="rId9"/>
      <p:boldItalic r:id="rId10"/>
    </p:embeddedFont>
    <p:embeddedFont>
      <p:font typeface="PT Sans Narrow"/>
      <p:regular r:id="rId11"/>
      <p:bold r:id="rId12"/>
    </p:embeddedFont>
    <p:embeddedFont>
      <p:font typeface="Lato"/>
      <p:regular r:id="rId13"/>
      <p:bold r:id="rId14"/>
      <p:italic r:id="rId15"/>
      <p:boldItalic r:id="rId16"/>
    </p:embeddedFont>
    <p:embeddedFont>
      <p:font typeface="Work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WorkSans-boldItalic.fntdata"/><Relationship Id="rId11" Type="http://schemas.openxmlformats.org/officeDocument/2006/relationships/font" Target="fonts/PTSansNarrow-regular.fntdata"/><Relationship Id="rId10" Type="http://schemas.openxmlformats.org/officeDocument/2006/relationships/font" Target="fonts/Roboto-boldItalic.fntdata"/><Relationship Id="rId13" Type="http://schemas.openxmlformats.org/officeDocument/2006/relationships/font" Target="fonts/Lato-regular.fntdata"/><Relationship Id="rId12" Type="http://schemas.openxmlformats.org/officeDocument/2006/relationships/font" Target="fonts/PTSansNarr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5" Type="http://schemas.openxmlformats.org/officeDocument/2006/relationships/font" Target="fonts/Lato-italic.fntdata"/><Relationship Id="rId14" Type="http://schemas.openxmlformats.org/officeDocument/2006/relationships/font" Target="fonts/Lato-bold.fntdata"/><Relationship Id="rId17" Type="http://schemas.openxmlformats.org/officeDocument/2006/relationships/font" Target="fonts/WorkSans-regular.fntdata"/><Relationship Id="rId16" Type="http://schemas.openxmlformats.org/officeDocument/2006/relationships/font" Target="fonts/Lato-boldItalic.fntdata"/><Relationship Id="rId5" Type="http://schemas.openxmlformats.org/officeDocument/2006/relationships/notesMaster" Target="notesMasters/notesMaster1.xml"/><Relationship Id="rId19" Type="http://schemas.openxmlformats.org/officeDocument/2006/relationships/font" Target="fonts/WorkSans-italic.fntdata"/><Relationship Id="rId6" Type="http://schemas.openxmlformats.org/officeDocument/2006/relationships/slide" Target="slides/slide1.xml"/><Relationship Id="rId18" Type="http://schemas.openxmlformats.org/officeDocument/2006/relationships/font" Target="fonts/WorkSans-bold.fntdata"/><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10" name="Shape 10"/>
        <p:cNvGrpSpPr/>
        <p:nvPr/>
      </p:nvGrpSpPr>
      <p:grpSpPr>
        <a:xfrm>
          <a:off x="0" y="0"/>
          <a:ext cx="0" cy="0"/>
          <a:chOff x="0" y="0"/>
          <a:chExt cx="0" cy="0"/>
        </a:xfrm>
      </p:grpSpPr>
      <p:cxnSp>
        <p:nvCxnSpPr>
          <p:cNvPr id="11" name="Google Shape;11;p2"/>
          <p:cNvCxnSpPr>
            <a:stCxn id="12" idx="1"/>
          </p:cNvCxnSpPr>
          <p:nvPr/>
        </p:nvCxnSpPr>
        <p:spPr>
          <a:xfrm>
            <a:off x="3033473" y="937660"/>
            <a:ext cx="15900" cy="6568200"/>
          </a:xfrm>
          <a:prstGeom prst="straightConnector1">
            <a:avLst/>
          </a:prstGeom>
          <a:noFill/>
          <a:ln cap="flat" cmpd="sng" w="9525">
            <a:solidFill>
              <a:srgbClr val="CCCCCC"/>
            </a:solidFill>
            <a:prstDash val="solid"/>
            <a:round/>
            <a:headEnd len="sm" w="sm" type="none"/>
            <a:tailEnd len="sm" w="sm" type="none"/>
          </a:ln>
        </p:spPr>
      </p:cxnSp>
      <p:grpSp>
        <p:nvGrpSpPr>
          <p:cNvPr id="13" name="Google Shape;13;p2"/>
          <p:cNvGrpSpPr/>
          <p:nvPr/>
        </p:nvGrpSpPr>
        <p:grpSpPr>
          <a:xfrm>
            <a:off x="190345" y="900758"/>
            <a:ext cx="7581747" cy="5906"/>
            <a:chOff x="1890075" y="5241175"/>
            <a:chExt cx="4240556" cy="257700"/>
          </a:xfrm>
        </p:grpSpPr>
        <p:sp>
          <p:nvSpPr>
            <p:cNvPr id="14" name="Google Shape;14;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5" name="Google Shape;15;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6" name="Google Shape;16;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7" name="Google Shape;17;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8" name="Google Shape;18;p2"/>
          <p:cNvGrpSpPr/>
          <p:nvPr/>
        </p:nvGrpSpPr>
        <p:grpSpPr>
          <a:xfrm>
            <a:off x="190320" y="931759"/>
            <a:ext cx="7581691" cy="5901"/>
            <a:chOff x="1890075" y="5241175"/>
            <a:chExt cx="4240556" cy="257700"/>
          </a:xfrm>
        </p:grpSpPr>
        <p:sp>
          <p:nvSpPr>
            <p:cNvPr id="19" name="Google Shape;19;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 name="Google Shape;20;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 name="Google Shape;21;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 name="Google Shape;22;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3" name="Google Shape;23;p2"/>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24" name="Google Shape;24;p2"/>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5" name="Google Shape;25;p2"/>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26" name="Google Shape;26;p2"/>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2"/>
          <p:cNvGrpSpPr/>
          <p:nvPr/>
        </p:nvGrpSpPr>
        <p:grpSpPr>
          <a:xfrm>
            <a:off x="190320" y="900657"/>
            <a:ext cx="7581691" cy="5901"/>
            <a:chOff x="1890075" y="5241175"/>
            <a:chExt cx="4240556" cy="257700"/>
          </a:xfrm>
        </p:grpSpPr>
        <p:sp>
          <p:nvSpPr>
            <p:cNvPr id="28" name="Google Shape;2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 name="Google Shape;2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0" name="Google Shape;3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1" name="Google Shape;3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2" name="Google Shape;32;p2"/>
          <p:cNvGrpSpPr/>
          <p:nvPr/>
        </p:nvGrpSpPr>
        <p:grpSpPr>
          <a:xfrm>
            <a:off x="190320" y="931759"/>
            <a:ext cx="7581691" cy="5901"/>
            <a:chOff x="1890075" y="5241175"/>
            <a:chExt cx="4240556" cy="257700"/>
          </a:xfrm>
        </p:grpSpPr>
        <p:sp>
          <p:nvSpPr>
            <p:cNvPr id="33" name="Google Shape;3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2" name="Google Shape;12;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 name="Google Shape;3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5" name="Google Shape;3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36" name="Google Shape;36;p2"/>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37" name="Google Shape;37;p2"/>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38" name="Google Shape;38;p2"/>
          <p:cNvGrpSpPr/>
          <p:nvPr/>
        </p:nvGrpSpPr>
        <p:grpSpPr>
          <a:xfrm>
            <a:off x="172024" y="1040825"/>
            <a:ext cx="137818" cy="187200"/>
            <a:chOff x="507100" y="1997600"/>
            <a:chExt cx="158375" cy="187200"/>
          </a:xfrm>
        </p:grpSpPr>
        <p:sp>
          <p:nvSpPr>
            <p:cNvPr id="39" name="Google Shape;39;p2"/>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 name="Google Shape;41;p2"/>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42" name="Google Shape;42;p2"/>
          <p:cNvGrpSpPr/>
          <p:nvPr/>
        </p:nvGrpSpPr>
        <p:grpSpPr>
          <a:xfrm>
            <a:off x="190349" y="2907725"/>
            <a:ext cx="137818" cy="187200"/>
            <a:chOff x="507100" y="1540400"/>
            <a:chExt cx="158375" cy="187200"/>
          </a:xfrm>
        </p:grpSpPr>
        <p:sp>
          <p:nvSpPr>
            <p:cNvPr id="43" name="Google Shape;43;p2"/>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46" name="Google Shape;46;p2"/>
          <p:cNvGrpSpPr/>
          <p:nvPr/>
        </p:nvGrpSpPr>
        <p:grpSpPr>
          <a:xfrm>
            <a:off x="172024" y="5506200"/>
            <a:ext cx="137818" cy="187200"/>
            <a:chOff x="507100" y="1997600"/>
            <a:chExt cx="158375" cy="187200"/>
          </a:xfrm>
        </p:grpSpPr>
        <p:sp>
          <p:nvSpPr>
            <p:cNvPr id="47" name="Google Shape;47;p2"/>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 name="Google Shape;49;p2"/>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50" name="Google Shape;50;p2"/>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51" name="Google Shape;51;p2"/>
          <p:cNvGrpSpPr/>
          <p:nvPr/>
        </p:nvGrpSpPr>
        <p:grpSpPr>
          <a:xfrm>
            <a:off x="172024" y="7607808"/>
            <a:ext cx="137818" cy="187200"/>
            <a:chOff x="507100" y="1997600"/>
            <a:chExt cx="158375" cy="187200"/>
          </a:xfrm>
        </p:grpSpPr>
        <p:sp>
          <p:nvSpPr>
            <p:cNvPr id="52" name="Google Shape;52;p2"/>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2"/>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55" name="Shape 55"/>
        <p:cNvGrpSpPr/>
        <p:nvPr/>
      </p:nvGrpSpPr>
      <p:grpSpPr>
        <a:xfrm>
          <a:off x="0" y="0"/>
          <a:ext cx="0" cy="0"/>
          <a:chOff x="0" y="0"/>
          <a:chExt cx="0" cy="0"/>
        </a:xfrm>
      </p:grpSpPr>
      <p:grpSp>
        <p:nvGrpSpPr>
          <p:cNvPr id="56" name="Google Shape;56;p3"/>
          <p:cNvGrpSpPr/>
          <p:nvPr/>
        </p:nvGrpSpPr>
        <p:grpSpPr>
          <a:xfrm>
            <a:off x="172055" y="1468890"/>
            <a:ext cx="7434543" cy="62982"/>
            <a:chOff x="1890075" y="5241175"/>
            <a:chExt cx="4240556" cy="257700"/>
          </a:xfrm>
        </p:grpSpPr>
        <p:sp>
          <p:nvSpPr>
            <p:cNvPr id="57" name="Google Shape;57;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8" name="Google Shape;58;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9" name="Google Shape;59;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0" name="Google Shape;60;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61" name="Google Shape;61;p3"/>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62" name="Google Shape;62;p3"/>
          <p:cNvGrpSpPr/>
          <p:nvPr/>
        </p:nvGrpSpPr>
        <p:grpSpPr>
          <a:xfrm>
            <a:off x="168930" y="2702615"/>
            <a:ext cx="7434543" cy="62982"/>
            <a:chOff x="1890075" y="5241175"/>
            <a:chExt cx="4240556" cy="257700"/>
          </a:xfrm>
        </p:grpSpPr>
        <p:sp>
          <p:nvSpPr>
            <p:cNvPr id="63" name="Google Shape;63;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4" name="Google Shape;64;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5" name="Google Shape;65;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6" name="Google Shape;66;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67" name="Google Shape;67;p3"/>
          <p:cNvCxnSpPr>
            <a:stCxn id="57"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68" name="Google Shape;68;p3"/>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69" name="Google Shape;69;p3"/>
          <p:cNvGrpSpPr/>
          <p:nvPr/>
        </p:nvGrpSpPr>
        <p:grpSpPr>
          <a:xfrm>
            <a:off x="0" y="3413775"/>
            <a:ext cx="3530025" cy="746350"/>
            <a:chOff x="0" y="3156075"/>
            <a:chExt cx="3530025" cy="746350"/>
          </a:xfrm>
        </p:grpSpPr>
        <p:sp>
          <p:nvSpPr>
            <p:cNvPr id="70" name="Google Shape;70;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1" name="Google Shape;71;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2" name="Google Shape;72;p3"/>
          <p:cNvGrpSpPr/>
          <p:nvPr/>
        </p:nvGrpSpPr>
        <p:grpSpPr>
          <a:xfrm>
            <a:off x="3248850" y="2867100"/>
            <a:ext cx="4936034" cy="746350"/>
            <a:chOff x="0" y="3156075"/>
            <a:chExt cx="3530025" cy="746350"/>
          </a:xfrm>
        </p:grpSpPr>
        <p:sp>
          <p:nvSpPr>
            <p:cNvPr id="73" name="Google Shape;73;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4" name="Google Shape;74;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5" name="Google Shape;75;p3"/>
          <p:cNvGrpSpPr/>
          <p:nvPr/>
        </p:nvGrpSpPr>
        <p:grpSpPr>
          <a:xfrm>
            <a:off x="3248850" y="7166275"/>
            <a:ext cx="4936034" cy="746350"/>
            <a:chOff x="0" y="3156075"/>
            <a:chExt cx="3530025" cy="746350"/>
          </a:xfrm>
        </p:grpSpPr>
        <p:sp>
          <p:nvSpPr>
            <p:cNvPr id="76" name="Google Shape;76;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7" name="Google Shape;77;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78" name="Google Shape;78;p3"/>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79" name="Google Shape;79;p3"/>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80" name="Google Shape;80;p3"/>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grpSp>
        <p:nvGrpSpPr>
          <p:cNvPr id="81" name="Google Shape;81;p3"/>
          <p:cNvGrpSpPr/>
          <p:nvPr/>
        </p:nvGrpSpPr>
        <p:grpSpPr>
          <a:xfrm>
            <a:off x="172055" y="1468890"/>
            <a:ext cx="7434543" cy="62982"/>
            <a:chOff x="1890075" y="5241175"/>
            <a:chExt cx="4240556" cy="257700"/>
          </a:xfrm>
        </p:grpSpPr>
        <p:sp>
          <p:nvSpPr>
            <p:cNvPr id="82" name="Google Shape;82;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 name="Google Shape;8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4" name="Google Shape;8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 name="Google Shape;8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86" name="Google Shape;86;p3"/>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87" name="Google Shape;87;p3"/>
          <p:cNvGrpSpPr/>
          <p:nvPr/>
        </p:nvGrpSpPr>
        <p:grpSpPr>
          <a:xfrm>
            <a:off x="168930" y="2702615"/>
            <a:ext cx="7434543" cy="62982"/>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9" name="Google Shape;89;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0" name="Google Shape;90;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1" name="Google Shape;91;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cxnSp>
        <p:nvCxnSpPr>
          <p:cNvPr id="92" name="Google Shape;92;p3"/>
          <p:cNvCxnSpPr>
            <a:stCxn id="8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93" name="Google Shape;93;p3"/>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94" name="Google Shape;94;p3"/>
          <p:cNvGrpSpPr/>
          <p:nvPr/>
        </p:nvGrpSpPr>
        <p:grpSpPr>
          <a:xfrm>
            <a:off x="0" y="3413775"/>
            <a:ext cx="3530025" cy="746350"/>
            <a:chOff x="0" y="3156075"/>
            <a:chExt cx="3530025" cy="746350"/>
          </a:xfrm>
        </p:grpSpPr>
        <p:sp>
          <p:nvSpPr>
            <p:cNvPr id="95" name="Google Shape;95;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6" name="Google Shape;96;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97" name="Google Shape;97;p3"/>
          <p:cNvGrpSpPr/>
          <p:nvPr/>
        </p:nvGrpSpPr>
        <p:grpSpPr>
          <a:xfrm>
            <a:off x="3248850" y="2867100"/>
            <a:ext cx="4936034" cy="746350"/>
            <a:chOff x="0" y="3156075"/>
            <a:chExt cx="3530025" cy="746350"/>
          </a:xfrm>
        </p:grpSpPr>
        <p:sp>
          <p:nvSpPr>
            <p:cNvPr id="98" name="Google Shape;98;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9" name="Google Shape;99;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00" name="Google Shape;100;p3"/>
          <p:cNvGrpSpPr/>
          <p:nvPr/>
        </p:nvGrpSpPr>
        <p:grpSpPr>
          <a:xfrm>
            <a:off x="3248850" y="7166275"/>
            <a:ext cx="4936034" cy="746350"/>
            <a:chOff x="0" y="3156075"/>
            <a:chExt cx="3530025" cy="746350"/>
          </a:xfrm>
        </p:grpSpPr>
        <p:sp>
          <p:nvSpPr>
            <p:cNvPr id="101" name="Google Shape;101;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02" name="Google Shape;102;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03" name="Google Shape;103;p3"/>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Key Insights </a:t>
            </a:r>
            <a:endParaRPr b="0" i="0" sz="1900" u="none" cap="none" strike="noStrike">
              <a:solidFill>
                <a:srgbClr val="EEEEEE"/>
              </a:solidFill>
              <a:latin typeface="Arial"/>
              <a:ea typeface="Arial"/>
              <a:cs typeface="Arial"/>
              <a:sym typeface="Arial"/>
            </a:endParaRPr>
          </a:p>
        </p:txBody>
      </p:sp>
      <p:sp>
        <p:nvSpPr>
          <p:cNvPr id="104" name="Google Shape;104;p3"/>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Details </a:t>
            </a:r>
            <a:endParaRPr b="0" i="0" sz="1900" u="none" cap="none" strike="noStrike">
              <a:solidFill>
                <a:srgbClr val="EEEEEE"/>
              </a:solidFill>
              <a:latin typeface="Arial"/>
              <a:ea typeface="Arial"/>
              <a:cs typeface="Arial"/>
              <a:sym typeface="Arial"/>
            </a:endParaRPr>
          </a:p>
        </p:txBody>
      </p:sp>
      <p:sp>
        <p:nvSpPr>
          <p:cNvPr id="105" name="Google Shape;105;p3"/>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Next Steps </a:t>
            </a:r>
            <a:endParaRPr b="0" i="0" sz="1900" u="none" cap="none" strike="noStrike">
              <a:solidFill>
                <a:srgbClr val="EEEEEE"/>
              </a:solidFill>
              <a:latin typeface="Arial"/>
              <a:ea typeface="Arial"/>
              <a:cs typeface="Arial"/>
              <a:sym typeface="Arial"/>
            </a:endParaRPr>
          </a:p>
        </p:txBody>
      </p:sp>
      <p:sp>
        <p:nvSpPr>
          <p:cNvPr id="106" name="Google Shape;106;p3"/>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7" name="Shape 107"/>
        <p:cNvGrpSpPr/>
        <p:nvPr/>
      </p:nvGrpSpPr>
      <p:grpSpPr>
        <a:xfrm>
          <a:off x="0" y="0"/>
          <a:ext cx="0" cy="0"/>
          <a:chOff x="0" y="0"/>
          <a:chExt cx="0" cy="0"/>
        </a:xfrm>
      </p:grpSpPr>
      <p:cxnSp>
        <p:nvCxnSpPr>
          <p:cNvPr id="108" name="Google Shape;108;p4"/>
          <p:cNvCxnSpPr/>
          <p:nvPr/>
        </p:nvCxnSpPr>
        <p:spPr>
          <a:xfrm>
            <a:off x="417963" y="311025"/>
            <a:ext cx="28200" cy="8777100"/>
          </a:xfrm>
          <a:prstGeom prst="straightConnector1">
            <a:avLst/>
          </a:prstGeom>
          <a:noFill/>
          <a:ln cap="flat" cmpd="sng" w="9525">
            <a:solidFill>
              <a:srgbClr val="B7B7B7"/>
            </a:solidFill>
            <a:prstDash val="solid"/>
            <a:round/>
            <a:headEnd len="sm" w="sm" type="none"/>
            <a:tailEnd len="sm" w="sm" type="none"/>
          </a:ln>
        </p:spPr>
      </p:cxnSp>
      <p:grpSp>
        <p:nvGrpSpPr>
          <p:cNvPr id="109" name="Google Shape;109;p4"/>
          <p:cNvGrpSpPr/>
          <p:nvPr/>
        </p:nvGrpSpPr>
        <p:grpSpPr>
          <a:xfrm>
            <a:off x="404725" y="1300475"/>
            <a:ext cx="6908400" cy="72025"/>
            <a:chOff x="404725" y="1681475"/>
            <a:chExt cx="6908400" cy="72025"/>
          </a:xfrm>
        </p:grpSpPr>
        <p:cxnSp>
          <p:nvCxnSpPr>
            <p:cNvPr id="110" name="Google Shape;110;p4"/>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11" name="Google Shape;111;p4"/>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12" name="Google Shape;112;p4"/>
          <p:cNvCxnSpPr/>
          <p:nvPr/>
        </p:nvCxnSpPr>
        <p:spPr>
          <a:xfrm>
            <a:off x="7326238" y="6225"/>
            <a:ext cx="28200" cy="8777100"/>
          </a:xfrm>
          <a:prstGeom prst="straightConnector1">
            <a:avLst/>
          </a:prstGeom>
          <a:noFill/>
          <a:ln cap="flat" cmpd="sng" w="9525">
            <a:solidFill>
              <a:srgbClr val="B7B7B7"/>
            </a:solidFill>
            <a:prstDash val="solid"/>
            <a:round/>
            <a:headEnd len="sm" w="sm" type="none"/>
            <a:tailEnd len="sm" w="sm" type="none"/>
          </a:ln>
        </p:spPr>
      </p:cxnSp>
      <p:cxnSp>
        <p:nvCxnSpPr>
          <p:cNvPr id="113" name="Google Shape;113;p4"/>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14" name="Google Shape;114;p4"/>
          <p:cNvCxnSpPr/>
          <p:nvPr/>
        </p:nvCxnSpPr>
        <p:spPr>
          <a:xfrm>
            <a:off x="3861475" y="3505200"/>
            <a:ext cx="0" cy="5611800"/>
          </a:xfrm>
          <a:prstGeom prst="straightConnector1">
            <a:avLst/>
          </a:prstGeom>
          <a:noFill/>
          <a:ln cap="flat" cmpd="sng" w="9525">
            <a:solidFill>
              <a:srgbClr val="B7B7B7"/>
            </a:solidFill>
            <a:prstDash val="solid"/>
            <a:round/>
            <a:headEnd len="sm" w="sm" type="none"/>
            <a:tailEnd len="sm" w="sm" type="none"/>
          </a:ln>
        </p:spPr>
      </p:cxnSp>
      <p:grpSp>
        <p:nvGrpSpPr>
          <p:cNvPr id="115" name="Google Shape;115;p4"/>
          <p:cNvGrpSpPr/>
          <p:nvPr/>
        </p:nvGrpSpPr>
        <p:grpSpPr>
          <a:xfrm>
            <a:off x="417975" y="1504250"/>
            <a:ext cx="2357775" cy="410125"/>
            <a:chOff x="417975" y="1885250"/>
            <a:chExt cx="2357775" cy="410125"/>
          </a:xfrm>
        </p:grpSpPr>
        <p:sp>
          <p:nvSpPr>
            <p:cNvPr id="116" name="Google Shape;11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 name="Google Shape;120;p4"/>
          <p:cNvGrpSpPr/>
          <p:nvPr/>
        </p:nvGrpSpPr>
        <p:grpSpPr>
          <a:xfrm>
            <a:off x="417975" y="3276600"/>
            <a:ext cx="2357775" cy="410125"/>
            <a:chOff x="265575" y="3352800"/>
            <a:chExt cx="2357775" cy="410125"/>
          </a:xfrm>
        </p:grpSpPr>
        <p:sp>
          <p:nvSpPr>
            <p:cNvPr id="121" name="Google Shape;12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 name="Google Shape;125;p4"/>
          <p:cNvGrpSpPr/>
          <p:nvPr/>
        </p:nvGrpSpPr>
        <p:grpSpPr>
          <a:xfrm>
            <a:off x="3872044" y="3276600"/>
            <a:ext cx="2747987" cy="410125"/>
            <a:chOff x="3567313" y="3200400"/>
            <a:chExt cx="2357775" cy="410125"/>
          </a:xfrm>
        </p:grpSpPr>
        <p:sp>
          <p:nvSpPr>
            <p:cNvPr id="126" name="Google Shape;12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 name="Google Shape;130;p4"/>
          <p:cNvGrpSpPr/>
          <p:nvPr/>
        </p:nvGrpSpPr>
        <p:grpSpPr>
          <a:xfrm>
            <a:off x="417963" y="6597750"/>
            <a:ext cx="2357775" cy="410125"/>
            <a:chOff x="-39237" y="6140550"/>
            <a:chExt cx="2357775" cy="410125"/>
          </a:xfrm>
        </p:grpSpPr>
        <p:sp>
          <p:nvSpPr>
            <p:cNvPr id="131" name="Google Shape;13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 name="Google Shape;13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136" name="Google Shape;13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137" name="Google Shape;13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138" name="Google Shape;13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139" name="Google Shape;139;p4"/>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40" name="Google Shape;140;p4"/>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41" name="Google Shape;141;p4"/>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42" name="Google Shape;142;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43" name="Google Shape;143;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44" name="Shape 144"/>
        <p:cNvGrpSpPr/>
        <p:nvPr/>
      </p:nvGrpSpPr>
      <p:grpSpPr>
        <a:xfrm>
          <a:off x="0" y="0"/>
          <a:ext cx="0" cy="0"/>
          <a:chOff x="0" y="0"/>
          <a:chExt cx="0" cy="0"/>
        </a:xfrm>
      </p:grpSpPr>
      <p:sp>
        <p:nvSpPr>
          <p:cNvPr id="145" name="Google Shape;145;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6" name="Google Shape;146;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147" name="Google Shape;147;p5"/>
          <p:cNvGrpSpPr/>
          <p:nvPr/>
        </p:nvGrpSpPr>
        <p:grpSpPr>
          <a:xfrm>
            <a:off x="95351" y="1392509"/>
            <a:ext cx="7581691" cy="5901"/>
            <a:chOff x="1890075" y="5241175"/>
            <a:chExt cx="4240556" cy="257700"/>
          </a:xfrm>
        </p:grpSpPr>
        <p:sp>
          <p:nvSpPr>
            <p:cNvPr id="148" name="Google Shape;14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9" name="Google Shape;14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0" name="Google Shape;15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1" name="Google Shape;15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52" name="Google Shape;152;p5"/>
          <p:cNvGrpSpPr/>
          <p:nvPr/>
        </p:nvGrpSpPr>
        <p:grpSpPr>
          <a:xfrm>
            <a:off x="95351" y="4542984"/>
            <a:ext cx="7581691" cy="5901"/>
            <a:chOff x="1890075" y="5241175"/>
            <a:chExt cx="4240556" cy="257700"/>
          </a:xfrm>
        </p:grpSpPr>
        <p:sp>
          <p:nvSpPr>
            <p:cNvPr id="153" name="Google Shape;15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4" name="Google Shape;15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5" name="Google Shape;15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6" name="Google Shape;15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57" name="Google Shape;157;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 </a:t>
            </a:r>
            <a:endParaRPr b="1" i="0" sz="1400" u="none" cap="none" strike="noStrike">
              <a:solidFill>
                <a:srgbClr val="000000"/>
              </a:solidFill>
              <a:latin typeface="Arial"/>
              <a:ea typeface="Arial"/>
              <a:cs typeface="Arial"/>
              <a:sym typeface="Arial"/>
            </a:endParaRPr>
          </a:p>
        </p:txBody>
      </p:sp>
      <p:sp>
        <p:nvSpPr>
          <p:cNvPr id="158" name="Google Shape;158;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Problem</a:t>
            </a:r>
            <a:endParaRPr b="1" i="0" sz="1400" u="none" cap="none" strike="noStrike">
              <a:solidFill>
                <a:srgbClr val="000000"/>
              </a:solidFill>
              <a:latin typeface="Arial"/>
              <a:ea typeface="Arial"/>
              <a:cs typeface="Arial"/>
              <a:sym typeface="Arial"/>
            </a:endParaRPr>
          </a:p>
        </p:txBody>
      </p:sp>
      <p:sp>
        <p:nvSpPr>
          <p:cNvPr id="159" name="Google Shape;159;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Solution</a:t>
            </a:r>
            <a:endParaRPr b="1" i="0" sz="1400" u="none" cap="none" strike="noStrike">
              <a:solidFill>
                <a:srgbClr val="000000"/>
              </a:solidFill>
              <a:latin typeface="Arial"/>
              <a:ea typeface="Arial"/>
              <a:cs typeface="Arial"/>
              <a:sym typeface="Arial"/>
            </a:endParaRPr>
          </a:p>
        </p:txBody>
      </p:sp>
      <p:sp>
        <p:nvSpPr>
          <p:cNvPr id="160" name="Google Shape;160;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Details </a:t>
            </a:r>
            <a:endParaRPr b="1" i="0" sz="1400" u="none" cap="none" strike="noStrike">
              <a:solidFill>
                <a:srgbClr val="000000"/>
              </a:solidFill>
              <a:latin typeface="Arial"/>
              <a:ea typeface="Arial"/>
              <a:cs typeface="Arial"/>
              <a:sym typeface="Arial"/>
            </a:endParaRPr>
          </a:p>
        </p:txBody>
      </p:sp>
      <p:sp>
        <p:nvSpPr>
          <p:cNvPr id="161" name="Google Shape;161;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grpSp>
        <p:nvGrpSpPr>
          <p:cNvPr id="162" name="Google Shape;162;p5"/>
          <p:cNvGrpSpPr/>
          <p:nvPr/>
        </p:nvGrpSpPr>
        <p:grpSpPr>
          <a:xfrm>
            <a:off x="95351" y="8200359"/>
            <a:ext cx="7581691" cy="5901"/>
            <a:chOff x="1890075" y="5241175"/>
            <a:chExt cx="4240556" cy="257700"/>
          </a:xfrm>
        </p:grpSpPr>
        <p:sp>
          <p:nvSpPr>
            <p:cNvPr id="163" name="Google Shape;16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4" name="Google Shape;16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5" name="Google Shape;16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6" name="Google Shape;16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67" name="Shape 167"/>
        <p:cNvGrpSpPr/>
        <p:nvPr/>
      </p:nvGrpSpPr>
      <p:grpSpPr>
        <a:xfrm>
          <a:off x="0" y="0"/>
          <a:ext cx="0" cy="0"/>
          <a:chOff x="0" y="0"/>
          <a:chExt cx="0" cy="0"/>
        </a:xfrm>
      </p:grpSpPr>
      <p:sp>
        <p:nvSpPr>
          <p:cNvPr id="168" name="Google Shape;168;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grpSp>
        <p:nvGrpSpPr>
          <p:cNvPr id="169" name="Google Shape;169;p6"/>
          <p:cNvGrpSpPr/>
          <p:nvPr/>
        </p:nvGrpSpPr>
        <p:grpSpPr>
          <a:xfrm>
            <a:off x="-16250" y="9048087"/>
            <a:ext cx="7804900" cy="1072407"/>
            <a:chOff x="-19118" y="4617750"/>
            <a:chExt cx="9182236" cy="548378"/>
          </a:xfrm>
        </p:grpSpPr>
        <p:sp>
          <p:nvSpPr>
            <p:cNvPr id="170" name="Google Shape;170;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71" name="Google Shape;171;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72" name="Shape 1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nvSpPr>
        <p:spPr>
          <a:xfrm>
            <a:off x="226200" y="3227100"/>
            <a:ext cx="2773800" cy="221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The data team performed a preliminary investigation of the claims classification dataset with the aim of learning important relationships between variables.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1000"/>
              </a:spcAft>
              <a:buClr>
                <a:srgbClr val="000000"/>
              </a:buClr>
              <a:buSzPts val="1200"/>
              <a:buFont typeface="Arial"/>
              <a:buNone/>
            </a:pPr>
            <a:r>
              <a:rPr b="0" i="0" lang="en" sz="1200" u="none" cap="none" strike="noStrike">
                <a:solidFill>
                  <a:schemeClr val="dk1"/>
                </a:solidFill>
                <a:latin typeface="Arial"/>
                <a:ea typeface="Arial"/>
                <a:cs typeface="Arial"/>
                <a:sym typeface="Arial"/>
              </a:rPr>
              <a:t>Given the ask for a classification of user claims, the data team looked at the counts of claims and opinions in order to understand the count of each type of video content.</a:t>
            </a:r>
            <a:endParaRPr b="0" i="0" sz="1400" u="none" cap="none" strike="noStrike">
              <a:solidFill>
                <a:schemeClr val="dk1"/>
              </a:solidFill>
              <a:latin typeface="Arial"/>
              <a:ea typeface="Arial"/>
              <a:cs typeface="Arial"/>
              <a:sym typeface="Arial"/>
            </a:endParaRPr>
          </a:p>
        </p:txBody>
      </p:sp>
      <p:sp>
        <p:nvSpPr>
          <p:cNvPr id="178" name="Google Shape;178;p8"/>
          <p:cNvSpPr txBox="1"/>
          <p:nvPr/>
        </p:nvSpPr>
        <p:spPr>
          <a:xfrm>
            <a:off x="281500" y="1269175"/>
            <a:ext cx="25293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The TikTok data team seeks to develop a machine learning model to assist in the classification of claims for user submissions. To begin, the data team needs to organize the raw dataset and prepare it for future exploratory data analysis. </a:t>
            </a:r>
            <a:endParaRPr b="0" i="0" sz="1200" u="none" cap="none" strike="noStrike">
              <a:solidFill>
                <a:srgbClr val="000000"/>
              </a:solidFill>
              <a:latin typeface="Arial"/>
              <a:ea typeface="Arial"/>
              <a:cs typeface="Arial"/>
              <a:sym typeface="Arial"/>
            </a:endParaRPr>
          </a:p>
        </p:txBody>
      </p:sp>
      <p:sp>
        <p:nvSpPr>
          <p:cNvPr id="179" name="Google Shape;179;p8"/>
          <p:cNvSpPr txBox="1"/>
          <p:nvPr/>
        </p:nvSpPr>
        <p:spPr>
          <a:xfrm>
            <a:off x="156750" y="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Executive Summary</a:t>
            </a:r>
            <a:endParaRPr b="1" i="0" sz="2100" u="none" cap="none" strike="noStrike">
              <a:solidFill>
                <a:srgbClr val="000000"/>
              </a:solidFill>
              <a:latin typeface="Arial"/>
              <a:ea typeface="Arial"/>
              <a:cs typeface="Arial"/>
              <a:sym typeface="Arial"/>
            </a:endParaRPr>
          </a:p>
        </p:txBody>
      </p:sp>
      <p:sp>
        <p:nvSpPr>
          <p:cNvPr id="180" name="Google Shape;180;p8"/>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Milestone 2 of the TikTok Claims Classification Project</a:t>
            </a:r>
            <a:endParaRPr b="0" i="0" sz="1200" u="none" cap="none" strike="noStrike">
              <a:solidFill>
                <a:srgbClr val="000000"/>
              </a:solidFill>
              <a:latin typeface="PT Sans Narrow"/>
              <a:ea typeface="PT Sans Narrow"/>
              <a:cs typeface="PT Sans Narrow"/>
              <a:sym typeface="PT Sans Narrow"/>
            </a:endParaRPr>
          </a:p>
        </p:txBody>
      </p:sp>
      <p:sp>
        <p:nvSpPr>
          <p:cNvPr id="181" name="Google Shape;181;p8"/>
          <p:cNvSpPr txBox="1"/>
          <p:nvPr/>
        </p:nvSpPr>
        <p:spPr>
          <a:xfrm>
            <a:off x="226200" y="5670675"/>
            <a:ext cx="2886000" cy="256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impact of this preliminary analysis will be evident in the next steps. </a:t>
            </a:r>
            <a:r>
              <a:rPr b="0" i="0" lang="en" sz="1200" u="none" cap="none" strike="noStrike">
                <a:solidFill>
                  <a:schemeClr val="dk1"/>
                </a:solidFill>
                <a:latin typeface="Arial"/>
                <a:ea typeface="Arial"/>
                <a:cs typeface="Arial"/>
                <a:sym typeface="Arial"/>
              </a:rPr>
              <a:t>In order to understand the impact of user videos, the data team identified two i</a:t>
            </a:r>
            <a:r>
              <a:rPr b="0" i="0" lang="en" sz="1200" u="none" cap="none" strike="noStrike">
                <a:solidFill>
                  <a:srgbClr val="000000"/>
                </a:solidFill>
                <a:latin typeface="Arial"/>
                <a:ea typeface="Arial"/>
                <a:cs typeface="Arial"/>
                <a:sym typeface="Arial"/>
              </a:rPr>
              <a:t>mportant variables to consider. The variables  video_duration (in seconds) and video_view_count are both important factors to consider for future prediction models.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10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82" name="Google Shape;182;p8"/>
          <p:cNvSpPr txBox="1"/>
          <p:nvPr/>
        </p:nvSpPr>
        <p:spPr>
          <a:xfrm>
            <a:off x="129100" y="7793425"/>
            <a:ext cx="3951300" cy="2344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There is a near equal balance of opinions versus claims. With this understanding, we can proceed with our future analysis knowing that there is a fairly balanced amount of claims and opinions for the videos included within this dataset.</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10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With the key variables identified and the initial investigation of the claims classification dataset, the process of exploratory data analysis can begin.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83" name="Google Shape;183;p8"/>
          <p:cNvSpPr txBox="1"/>
          <p:nvPr/>
        </p:nvSpPr>
        <p:spPr>
          <a:xfrm>
            <a:off x="4080350" y="937600"/>
            <a:ext cx="2529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UNDERSTANDING THE DATA</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3221900" y="1262850"/>
            <a:ext cx="4246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After reviewing the provided dataset, the variable  claim_status seemed particularly useful, given the client’s proposed project. The following screenshots show important points of analysis required to understand the claim_status variable.</a:t>
            </a:r>
            <a:endParaRPr b="0" i="0" sz="1200" u="none" cap="none" strike="noStrike">
              <a:solidFill>
                <a:srgbClr val="000000"/>
              </a:solidFill>
              <a:latin typeface="Arial"/>
              <a:ea typeface="Arial"/>
              <a:cs typeface="Arial"/>
              <a:sym typeface="Arial"/>
            </a:endParaRPr>
          </a:p>
        </p:txBody>
      </p:sp>
      <p:pic>
        <p:nvPicPr>
          <p:cNvPr id="185" name="Google Shape;185;p8"/>
          <p:cNvPicPr preferRelativeResize="0"/>
          <p:nvPr/>
        </p:nvPicPr>
        <p:blipFill rotWithShape="1">
          <a:blip r:embed="rId3">
            <a:alphaModFix/>
          </a:blip>
          <a:srcRect b="0" l="0" r="0" t="0"/>
          <a:stretch/>
        </p:blipFill>
        <p:spPr>
          <a:xfrm>
            <a:off x="3349513" y="2441875"/>
            <a:ext cx="2886075" cy="895350"/>
          </a:xfrm>
          <a:prstGeom prst="rect">
            <a:avLst/>
          </a:prstGeom>
          <a:noFill/>
          <a:ln>
            <a:noFill/>
          </a:ln>
        </p:spPr>
      </p:pic>
      <p:sp>
        <p:nvSpPr>
          <p:cNvPr id="186" name="Google Shape;186;p8"/>
          <p:cNvSpPr txBox="1"/>
          <p:nvPr/>
        </p:nvSpPr>
        <p:spPr>
          <a:xfrm>
            <a:off x="3292550" y="3261025"/>
            <a:ext cx="4175400" cy="440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Note: </a:t>
            </a:r>
            <a:r>
              <a:rPr b="0" i="0" lang="en" sz="1200" u="none" cap="none" strike="noStrike">
                <a:solidFill>
                  <a:schemeClr val="dk1"/>
                </a:solidFill>
                <a:latin typeface="Arial"/>
                <a:ea typeface="Arial"/>
                <a:cs typeface="Arial"/>
                <a:sym typeface="Arial"/>
              </a:rPr>
              <a:t>The counts of each claim status are quite balanced. There are 9,608 claims and 9,476 opinions.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ENGAGEMENT TRENDS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The data team considered viewer engagement with each video in the claim and opinion categories. In order to understand viewer engagement, the data team considered the view count. The mean and median view count show the impact of each category of video; specifically, the mean and median view counts for both categories show the association between content (claim or opinion) and the video views.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Claims:</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Mean view count claims: 501029.4527477102</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Median view count claims: 501555.0</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Opinions:</a:t>
            </a:r>
            <a:endParaRPr b="0" i="0" sz="8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100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Mean view count opinions: 4956.43224989447</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Median view count opinions: 4953.0</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accent2"/>
              </a:solidFill>
              <a:highlight>
                <a:srgbClr val="FFFFFF"/>
              </a:highlight>
              <a:latin typeface="Courier New"/>
              <a:ea typeface="Courier New"/>
              <a:cs typeface="Courier New"/>
              <a:sym typeface="Courier New"/>
            </a:endParaRPr>
          </a:p>
        </p:txBody>
      </p:sp>
      <p:pic>
        <p:nvPicPr>
          <p:cNvPr descr="Pie chart showing 9,670 claims and 9,512 opinions" id="187" name="Google Shape;187;p8" title="Pie chart"/>
          <p:cNvPicPr preferRelativeResize="0"/>
          <p:nvPr/>
        </p:nvPicPr>
        <p:blipFill rotWithShape="1">
          <a:blip r:embed="rId4">
            <a:alphaModFix/>
          </a:blip>
          <a:srcRect b="0" l="0" r="0" t="-7515"/>
          <a:stretch/>
        </p:blipFill>
        <p:spPr>
          <a:xfrm>
            <a:off x="4574783" y="7594175"/>
            <a:ext cx="1664893" cy="2216400"/>
          </a:xfrm>
          <a:prstGeom prst="rect">
            <a:avLst/>
          </a:prstGeom>
          <a:noFill/>
          <a:ln cap="flat" cmpd="sng" w="19050">
            <a:solidFill>
              <a:schemeClr val="lt1"/>
            </a:solidFill>
            <a:prstDash val="solid"/>
            <a:round/>
            <a:headEnd len="sm" w="sm" type="none"/>
            <a:tailEnd len="sm" w="sm" type="none"/>
          </a:ln>
        </p:spPr>
      </p:pic>
      <p:sp>
        <p:nvSpPr>
          <p:cNvPr id="188" name="Google Shape;188;p8"/>
          <p:cNvSpPr txBox="1"/>
          <p:nvPr/>
        </p:nvSpPr>
        <p:spPr>
          <a:xfrm>
            <a:off x="4156600" y="7517975"/>
            <a:ext cx="30000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5000"/>
              </a:lnSpc>
              <a:spcBef>
                <a:spcPts val="0"/>
              </a:spcBef>
              <a:spcAft>
                <a:spcPts val="0"/>
              </a:spcAft>
              <a:buClr>
                <a:srgbClr val="000000"/>
              </a:buClr>
              <a:buSzPts val="600"/>
              <a:buFont typeface="Arial"/>
              <a:buNone/>
            </a:pPr>
            <a:r>
              <a:rPr b="0" i="1" lang="en" sz="600" u="none" cap="none" strike="noStrike">
                <a:solidFill>
                  <a:srgbClr val="444746"/>
                </a:solidFill>
                <a:highlight>
                  <a:schemeClr val="lt1"/>
                </a:highlight>
                <a:latin typeface="Arial"/>
                <a:ea typeface="Arial"/>
                <a:cs typeface="Arial"/>
                <a:sym typeface="Arial"/>
              </a:rPr>
              <a:t>Pie chart visualizes the comparison of the count of claims and opinions</a:t>
            </a:r>
            <a:endParaRPr b="0" i="1" sz="600" u="none" cap="none" strike="noStrike">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